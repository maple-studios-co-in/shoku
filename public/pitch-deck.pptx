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21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3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3840480" cy="3840480"/>
          </a:xfrm>
          <a:prstGeom prst="ellipse">
            <a:avLst/>
          </a:prstGeom>
          <a:solidFill>
            <a:srgbClr val="0E2614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06240"/>
            <a:ext cx="2743200" cy="2743200"/>
          </a:xfrm>
          <a:prstGeom prst="ellipse">
            <a:avLst/>
          </a:prstGeom>
          <a:solidFill>
            <a:srgbClr val="1C452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7AB0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Pista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49808" y="28803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AI-powered, white-label online ordering for cafés &amp; restaurant chains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35204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café. Your customers. Your app. Zero commission.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45720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FE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gives every café its own branded ordering app — menu, loyalty, analytics and an AI ordering assistant — for a flat monthly fee instead of the 20–30% aggregators charge. Live, multi-tenant, self-hostable.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49808" y="6126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pitch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Cafés are taxed 30% — and don't even own their customers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542032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16–30%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560320" y="256032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every order — pure margin erosion for thin-margin cafés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228600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542032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092440" y="256032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contact, data or relationship — the aggregator owns it all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370832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0320" y="438912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to run their own loyalty, retention or upsell — they rent an audience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411480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370832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438912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in-house app needs a tech team most cafés will never have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cafés are price-takers, dependent on platforms that compete with them.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curves are crossing at once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487168"/>
            <a:ext cx="640080" cy="64008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871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245059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fatigue is peaking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828800" y="2944368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NRAI #Logout, a CCI probe, and new low-commission entrants prove operators are revolting against the 30% model.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219456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487168"/>
            <a:ext cx="640080" cy="64008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45059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finally cheap &amp; good enough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360920" y="2944368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ordering, food intelligence and personalization now run at café scale and cost.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1605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453128"/>
            <a:ext cx="640080" cy="64008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4531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28800" y="441655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is ubiquitous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828800" y="4910328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of digital payment volume — friction-free direct checkout is default behavior in India.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1605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453128"/>
            <a:ext cx="640080" cy="64008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4531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D2C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60920" y="441655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 has reached F&amp;B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360920" y="4910328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want to own their channel, as every other category already did.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3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café's own AI ordering app — the rails, not the middleman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5000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5" name="Text 3"/>
          <p:cNvSpPr/>
          <p:nvPr/>
        </p:nvSpPr>
        <p:spPr>
          <a:xfrm>
            <a:off x="1069848" y="2240280"/>
            <a:ext cx="103144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white-label ordering app for each café — fully branded, on its own subdomain, live in days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3063240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" y="2953512"/>
            <a:ext cx="103144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SaaS subscription, no commission — the café keeps 100% of order value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3776472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3666744"/>
            <a:ext cx="103144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menu management, admin dashboard, analytics, customer accounts, loyalty &amp; discounts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4489704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4379976"/>
            <a:ext cx="103144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layer no aggregator gives the café: chat ordering, food intelligence, smart upsell, AI loyalty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7240" y="5202936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5093208"/>
            <a:ext cx="103144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Cafés own the customer, the data and the margin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not another marketplace — we're the OS that lets a café be its own marketplace.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products in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423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storefront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87552" y="290779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colours, menu, cart &amp; checkout on the café's own subdomain — a mobile-first PWA, no app download.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219456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423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ordering assistant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90872" y="290779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'what should I eat?' chat that recommends dishes, answers questions and builds the cart.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219456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423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intelligence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394192" y="290779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enriched with origin, ingredients, allergens and nutrition — unique to Pista.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&amp; rewards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87552" y="4873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Points, tiers and redeemable rewards (₹-off or free items), redeemed right at checkout.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3484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Super-admin console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90872" y="4873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provisions, themes and monitors every café tenant from one control plane.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816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94192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feedback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94192" y="4873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Post-order ratings &amp; comments roll up into an owner feedback dashboard.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signup to a live branded app — in days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45920" y="2651760"/>
            <a:ext cx="822960" cy="82296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5" name="Text 3"/>
          <p:cNvSpPr/>
          <p:nvPr/>
        </p:nvSpPr>
        <p:spPr>
          <a:xfrm>
            <a:off x="1645920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690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super-admin console: set brand, colours, menu, subdomain.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63240" y="274320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89120" y="2651760"/>
            <a:ext cx="822960" cy="82296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3611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Auto-provision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40690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multi-tenant storefront goes live on its subdomain — days, not months.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806440" y="274320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132320" y="2651760"/>
            <a:ext cx="822960" cy="82296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17920" y="3611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17920" y="40690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logs into their dashboard for menu, orders &amp; loyalty.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49640" y="274320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875520" y="2651760"/>
            <a:ext cx="822960" cy="82296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20" name="Text 18"/>
          <p:cNvSpPr/>
          <p:nvPr/>
        </p:nvSpPr>
        <p:spPr>
          <a:xfrm>
            <a:off x="9875520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961120" y="3611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more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961120" y="40690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order on web; AI assistant + upsells lift basket size from day one.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Monetize the operators, not the orders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6060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$32B → $140B+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60120" y="3429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online food ordering &amp; delivery (2024→2030, ~28% CAGR)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228600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6060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$254M → $848M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663440" y="3429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restaurant-tech SaaS — Pista's TAM (2024→2030, 22.8% CAGR)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228600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6060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₹18–54 Cr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366760" y="3429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SOM ARR — 2,000–6,000 outlets at our price points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5720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· SAM · SOM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88720" y="512064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organized foodservice is compounding at 13.2% CAGR; UPI handles 85% of digital payments. Figures are industry estimates; SOM is a bottoms-up build on Pista's pricing.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Flat SaaS — zero per-order commission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231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28346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₹4,999/mo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6118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café, full storefront + core AI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21945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15351C"/>
          </a:solidFill>
          <a:ln w="12700">
            <a:solidFill>
              <a:srgbClr val="1535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24231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28346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₹12,999/mo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09160" y="36118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Multi-outlet, advanced analytics, full AI loyalty &amp; upsells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21945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4231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0" y="28346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412480" y="36118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Chains, white-glove provisioning, self-host, SSO/integrations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Land-and-expand: start single-outlet → expand to all outlets → upsell AI &amp; enterprise. High gross margin; sticky once the storefront is the café's primary channel.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only AI-native, commission-free, fully-branded ordering 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106984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Aggregators (Zomato/Swiggy)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663440" y="2240280"/>
            <a:ext cx="65836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16–30% and own the customer. Pista: flat SaaS, the café owns everything.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06984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200400"/>
            <a:ext cx="3657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UrbanPiper / Posist / Petpooja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63440" y="3200400"/>
            <a:ext cx="65836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POS/integration tooling, but aggregator-centric and light on a branded, AI-native consumer storefront.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4160520"/>
            <a:ext cx="106984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160520"/>
            <a:ext cx="3657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Olo / Toast (US)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4160520"/>
            <a:ext cx="65836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white-label SaaS thesis at scale — we bring it to India, AI-first, at a far lower price.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120640"/>
            <a:ext cx="10698480" cy="841248"/>
          </a:xfrm>
          <a:prstGeom prst="roundRect">
            <a:avLst>
              <a:gd name="adj" fmla="val 8696"/>
            </a:avLst>
          </a:prstGeom>
          <a:solidFill>
            <a:srgbClr val="F3F8ED"/>
          </a:solidFill>
          <a:ln w="12700">
            <a:solidFill>
              <a:srgbClr val="7AB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20640"/>
            <a:ext cx="3657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wedge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663440" y="5120640"/>
            <a:ext cx="65836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+ multi-tenant + AI-native + food intelligence + no commission + self-hostable — and already live in production.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3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a chain, prove ROI on outlet one, expand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5000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5" name="Text 3"/>
          <p:cNvSpPr/>
          <p:nvPr/>
        </p:nvSpPr>
        <p:spPr>
          <a:xfrm>
            <a:off x="1069848" y="2240280"/>
            <a:ext cx="103144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ICP: specialty cafés and small/mid coffee &amp; restaurant chains (3–50 outlets) already feeling commission pain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308152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" y="2971800"/>
            <a:ext cx="103144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coffee-led chains — high repeat frequency makes loyalty + AI shine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381304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3703320"/>
            <a:ext cx="103144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founder-led direct sales, café-owner communities, POS/roaster/payment partnerships, referral loops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454456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4434840"/>
            <a:ext cx="103144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100 cafés: hand-picked design partners in 2–3 metros, white-glove onboarding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7240" y="527608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5166360"/>
            <a:ext cx="103144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Land-and-expand within chains drives logo growth without linear sales cost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hard part is already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44144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5" name="Text 3"/>
          <p:cNvSpPr/>
          <p:nvPr/>
        </p:nvSpPr>
        <p:spPr>
          <a:xfrm>
            <a:off x="1069848" y="2331720"/>
            <a:ext cx="10222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is live, multi-tenant and in production — Next.js, self-hostable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321868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" y="3108960"/>
            <a:ext cx="10222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Shipped: branded storefronts, café + super-admin consoles, AI assistant, food intelligence, loyalty with redemption, table QR ordering, guest feedback, WhatsApp marketing, sale banners, and AI platform analytics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77240" y="399592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3886200"/>
            <a:ext cx="10222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program in motion — onboarding first café/chain partners to validate ROI &amp; pricing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77240" y="477316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4663440"/>
            <a:ext cx="10222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 / early-revenue — raising to convert a working product into a repeatable go-to-market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7724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— a working, multi-tenant, AI-native platform — is done. We're now proving the sales motion.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SaaS compounding on logos &amp; ARPU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for modeling discussion only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240280"/>
            <a:ext cx="2674620" cy="868680"/>
          </a:xfrm>
          <a:prstGeom prst="rect">
            <a:avLst/>
          </a:prstGeom>
          <a:solidFill>
            <a:srgbClr val="15351C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4028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06140" y="2240280"/>
            <a:ext cx="2674620" cy="868680"/>
          </a:xfrm>
          <a:prstGeom prst="rect">
            <a:avLst/>
          </a:prstGeom>
          <a:solidFill>
            <a:srgbClr val="15351C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43300" y="224028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 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80760" y="2240280"/>
            <a:ext cx="2674620" cy="868680"/>
          </a:xfrm>
          <a:prstGeom prst="rect">
            <a:avLst/>
          </a:prstGeom>
          <a:solidFill>
            <a:srgbClr val="15351C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224028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 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755380" y="2240280"/>
            <a:ext cx="2674620" cy="868680"/>
          </a:xfrm>
          <a:prstGeom prst="rect">
            <a:avLst/>
          </a:prstGeom>
          <a:solidFill>
            <a:srgbClr val="15351C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92540" y="224028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 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0896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outlets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06140" y="310896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43300" y="310896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80760" y="310896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310896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755380" y="310896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92540" y="310896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397764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97764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ARPU (₹/mo)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406140" y="397764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3300" y="397764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7,500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080760" y="397764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397764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8,500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755380" y="3977640"/>
            <a:ext cx="26746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92540" y="397764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9,500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4846320"/>
            <a:ext cx="2674620" cy="868680"/>
          </a:xfrm>
          <a:prstGeom prst="rect">
            <a:avLst/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484632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 (₹)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3406140" y="4846320"/>
            <a:ext cx="2674620" cy="868680"/>
          </a:xfrm>
          <a:prstGeom prst="rect">
            <a:avLst/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43300" y="484632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~0.9 Cr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080760" y="4846320"/>
            <a:ext cx="2674620" cy="868680"/>
          </a:xfrm>
          <a:prstGeom prst="rect">
            <a:avLst/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484632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~6.1 Cr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8755380" y="4846320"/>
            <a:ext cx="2674620" cy="868680"/>
          </a:xfrm>
          <a:prstGeom prst="rect">
            <a:avLst/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92540" y="4846320"/>
            <a:ext cx="24003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B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~28.5 Cr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driven by land-and-expand within chains and a mix shift toward Growth/Enterprise. Revenue scales with logos &amp; ARPU, not order-volume volatility.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8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shipped what most teams only pitch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2651760"/>
            <a:ext cx="731520" cy="73152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2651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CEO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F&amp;B domain lead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2377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06440" y="2651760"/>
            <a:ext cx="731520" cy="73152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1" name="Text 9"/>
          <p:cNvSpPr/>
          <p:nvPr/>
        </p:nvSpPr>
        <p:spPr>
          <a:xfrm>
            <a:off x="5806440" y="2651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CTO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live multi-tenant platform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377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0" y="2651760"/>
            <a:ext cx="731520" cy="731520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0" y="2651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GTM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6676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F&amp;B sales &amp; chain partnerships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1520" y="50292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founder names, photos &amp; bios before sending — lead with “we shipped a live, multi-tenant AI platform.”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3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657600" cy="3657600"/>
          </a:xfrm>
          <a:prstGeom prst="ellipse">
            <a:avLst/>
          </a:prstGeom>
          <a:solidFill>
            <a:srgbClr val="0E26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C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Raising ₹2–4 Cr ($250K–$500K) pre-seed/seed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532888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2423160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funds: GTM &amp; founder-led sales 40% · product/AI depth 30% · onboarding &amp; success 20% · infra 10%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77240" y="3282696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3172968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 milestones: 100+ paying outlets, 5–10 chain logos, proven CAC/payback, ROI case studies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7240" y="4032504"/>
            <a:ext cx="146304" cy="146304"/>
          </a:xfrm>
          <a:prstGeom prst="ellipse">
            <a:avLst/>
          </a:prstGeom>
          <a:solidFill>
            <a:srgbClr val="7AB04A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3922776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E6F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a seed/Series A: a repeatable sales motion + early net revenue retention from land-and-expand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77240" y="5212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not asking you to fund a build — we're asking you to fund distribution of a product that already works.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5943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7AB04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2588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hello@pista.app   ·   pista.maplestudios.co.in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AB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B24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built-in growth engine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423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marketing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87552" y="290779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WhatsApp campaigns to loyal customers — segmented by tier, spend and recency.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219456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423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campaign copywriter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90872" y="290779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each message and personalizes every send with the customer's name, tier and points.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219456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423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triggers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394192" y="290779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confirmations, ready alerts, reward nudges and win-back reminders fire automatically.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analytics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87552" y="4873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MRR trends, a next-month forecast and at-risk cafés, with an AI insight summary.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3484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banners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90872" y="4873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upload promo banners that appear instantly atop their live ordering app.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816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3F8ED"/>
          </a:solidFill>
          <a:ln w="12700">
            <a:solidFill>
              <a:srgbClr val="D9E4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94192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segments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94192" y="4873752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E6B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Gold members, lapsed regulars or customers close to a reward in one tap.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2026-06-18T04:05:42Z</dcterms:created>
  <dcterms:modified xsi:type="dcterms:W3CDTF">2026-06-18T04:05:42Z</dcterms:modified>
</cp:coreProperties>
</file>